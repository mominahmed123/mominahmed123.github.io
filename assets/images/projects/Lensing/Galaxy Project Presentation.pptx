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Garet Bold" charset="1" panose="00000000000000000000"/>
      <p:regular r:id="rId33"/>
    </p:embeddedFont>
    <p:embeddedFont>
      <p:font typeface="Poppins" charset="1" panose="00000500000000000000"/>
      <p:regular r:id="rId34"/>
    </p:embeddedFont>
    <p:embeddedFont>
      <p:font typeface="Poppins Bold" charset="1" panose="00000800000000000000"/>
      <p:regular r:id="rId35"/>
    </p:embeddedFont>
    <p:embeddedFont>
      <p:font typeface="Garet" charset="1" panose="00000000000000000000"/>
      <p:regular r:id="rId36"/>
    </p:embeddedFont>
    <p:embeddedFont>
      <p:font typeface="Canva Sans Bold" charset="1" panose="020B0803030501040103"/>
      <p:regular r:id="rId37"/>
    </p:embeddedFont>
    <p:embeddedFont>
      <p:font typeface="Canva Sans" charset="1" panose="020B05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VAGmSz-5VCc.mp4" Type="http://schemas.openxmlformats.org/officeDocument/2006/relationships/video"/><Relationship Id="rId5" Target="../media/VAGmSz-5VCc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27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6.png" Type="http://schemas.openxmlformats.org/officeDocument/2006/relationships/image"/><Relationship Id="rId4" Target="../media/image44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8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Relationship Id="rId3" Target="../media/image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255985" y="-2180105"/>
            <a:ext cx="9400859" cy="526448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144874" y="-2180105"/>
            <a:ext cx="9400859" cy="526448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74280" y="2232569"/>
            <a:ext cx="15342634" cy="184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b="true" sz="710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STRONG GRAVITATIONAL LENSING SUPER-RESOLUTION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87350" y="5920593"/>
            <a:ext cx="4313872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SYED M</a:t>
            </a: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OMIN AHMED RIZVI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7266" y="5920593"/>
            <a:ext cx="286797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KOO HO YIN JACK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6190" y="6554389"/>
            <a:ext cx="231013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CSE &amp; PHYSIC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18603" y="6554389"/>
            <a:ext cx="205136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CSE &amp; MATH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12503" y="76200"/>
            <a:ext cx="2075497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01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455263" y="6991703"/>
            <a:ext cx="9400859" cy="526448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103585" y="-2027705"/>
            <a:ext cx="9400859" cy="526448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945597" y="7148114"/>
            <a:ext cx="9400859" cy="5264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0" r="0" b="-25777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392849" y="3743220"/>
            <a:ext cx="7559660" cy="425580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76145" y="1393494"/>
            <a:ext cx="15115522" cy="147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5"/>
              </a:lnSpc>
            </a:pPr>
            <a:r>
              <a:rPr lang="en-US" b="true" sz="562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IS GRAVITATIONAL LENSING INTERESTING?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771943"/>
            <a:ext cx="10083649" cy="623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208" indent="-344604" lvl="1">
              <a:lnSpc>
                <a:spcPts val="4469"/>
              </a:lnSpc>
              <a:buFont typeface="Arial"/>
              <a:buChar char="•"/>
            </a:pPr>
            <a:r>
              <a:rPr lang="en-US" sz="3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Gravitational lensing occurs when a massive celestial body is heavy enough to bend the path of light.</a:t>
            </a:r>
          </a:p>
          <a:p>
            <a:pPr algn="l">
              <a:lnSpc>
                <a:spcPts val="4469"/>
              </a:lnSpc>
            </a:pPr>
          </a:p>
          <a:p>
            <a:pPr algn="l" marL="689208" indent="-344604" lvl="1">
              <a:lnSpc>
                <a:spcPts val="4469"/>
              </a:lnSpc>
              <a:buFont typeface="Arial"/>
              <a:buChar char="•"/>
            </a:pPr>
            <a:r>
              <a:rPr lang="en-US" sz="3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However, for some observed lenses, the normal matter there does not have enough gravity to bend spacetime.</a:t>
            </a:r>
          </a:p>
          <a:p>
            <a:pPr algn="l">
              <a:lnSpc>
                <a:spcPts val="4469"/>
              </a:lnSpc>
            </a:pPr>
          </a:p>
          <a:p>
            <a:pPr algn="l" marL="689208" indent="-344604" lvl="1">
              <a:lnSpc>
                <a:spcPts val="4469"/>
              </a:lnSpc>
              <a:buFont typeface="Arial"/>
              <a:buChar char="•"/>
            </a:pPr>
            <a:r>
              <a:rPr lang="en-US" sz="31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suggests the existence of a new matter, </a:t>
            </a:r>
            <a:r>
              <a:rPr lang="en-US" b="true" sz="31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dark matter</a:t>
            </a:r>
          </a:p>
          <a:p>
            <a:pPr algn="l">
              <a:lnSpc>
                <a:spcPts val="414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094551" y="76200"/>
            <a:ext cx="219344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646420"/>
            <a:ext cx="18288000" cy="4640580"/>
          </a:xfrm>
          <a:custGeom>
            <a:avLst/>
            <a:gdLst/>
            <a:ahLst/>
            <a:cxnLst/>
            <a:rect r="r" b="b" t="t" l="l"/>
            <a:pathLst>
              <a:path h="4640580" w="18288000">
                <a:moveTo>
                  <a:pt x="0" y="0"/>
                </a:moveTo>
                <a:lnTo>
                  <a:pt x="18288000" y="0"/>
                </a:lnTo>
                <a:lnTo>
                  <a:pt x="18288000" y="4640580"/>
                </a:lnTo>
                <a:lnTo>
                  <a:pt x="0" y="4640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82977" y="2134884"/>
            <a:ext cx="11915230" cy="13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SHAPE OF GL DETERMINES </a:t>
            </a:r>
          </a:p>
          <a:p>
            <a:pPr algn="ctr">
              <a:lnSpc>
                <a:spcPts val="5150"/>
              </a:lnSpc>
            </a:pPr>
            <a:r>
              <a:rPr lang="en-US" b="true" sz="50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TYPE OF DARK MATTER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48" y="4969644"/>
            <a:ext cx="4407768" cy="41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  <a:spcBef>
                <a:spcPct val="0"/>
              </a:spcBef>
            </a:pPr>
            <a:r>
              <a:rPr lang="en-US" b="true" sz="316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AXION DARK MATTER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98872" y="4920178"/>
            <a:ext cx="5104013" cy="51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  <a:spcBef>
                <a:spcPct val="0"/>
              </a:spcBef>
            </a:pPr>
            <a:r>
              <a:rPr lang="en-US" b="true" sz="38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COLD DARK MATTER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6573" y="4645159"/>
            <a:ext cx="5701427" cy="1001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  <a:spcBef>
                <a:spcPct val="0"/>
              </a:spcBef>
            </a:pPr>
            <a:r>
              <a:rPr lang="en-US" b="true" sz="38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38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O-SUBSTRUCTURE DARK MATTER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5346" y="76200"/>
            <a:ext cx="2182654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9109" y="2152374"/>
            <a:ext cx="14898207" cy="13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THERE IS JUST A SMALL PROBLEM,</a:t>
            </a:r>
          </a:p>
          <a:p>
            <a:pPr algn="ctr">
              <a:lnSpc>
                <a:spcPts val="5150"/>
              </a:lnSpc>
            </a:pPr>
            <a:r>
              <a:rPr lang="en-US" b="true" sz="50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LENS IS TOO BLURRY TO SEE THE SHAPE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63758" y="3930850"/>
            <a:ext cx="3673211" cy="3751923"/>
          </a:xfrm>
          <a:custGeom>
            <a:avLst/>
            <a:gdLst/>
            <a:ahLst/>
            <a:cxnLst/>
            <a:rect r="r" b="b" t="t" l="l"/>
            <a:pathLst>
              <a:path h="3751923" w="3673211">
                <a:moveTo>
                  <a:pt x="0" y="0"/>
                </a:moveTo>
                <a:lnTo>
                  <a:pt x="3673210" y="0"/>
                </a:lnTo>
                <a:lnTo>
                  <a:pt x="3673210" y="3751923"/>
                </a:lnTo>
                <a:lnTo>
                  <a:pt x="0" y="3751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666" t="-56621" r="-111422" b="-428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4041" y="7749448"/>
            <a:ext cx="4897502" cy="47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SIMULATED IMAGE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07386" y="4002206"/>
            <a:ext cx="4090821" cy="3680567"/>
          </a:xfrm>
          <a:custGeom>
            <a:avLst/>
            <a:gdLst/>
            <a:ahLst/>
            <a:cxnLst/>
            <a:rect r="r" b="b" t="t" l="l"/>
            <a:pathLst>
              <a:path h="3680567" w="4090821">
                <a:moveTo>
                  <a:pt x="0" y="0"/>
                </a:moveTo>
                <a:lnTo>
                  <a:pt x="4090821" y="0"/>
                </a:lnTo>
                <a:lnTo>
                  <a:pt x="4090821" y="3680567"/>
                </a:lnTo>
                <a:lnTo>
                  <a:pt x="0" y="3680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40778" y="7749448"/>
            <a:ext cx="4171950" cy="47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OBSERVED</a:t>
            </a:r>
            <a:r>
              <a:rPr lang="en-US" b="true" sz="35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IMAGE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3122" y="76200"/>
            <a:ext cx="2194878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0A26">
                <a:alpha val="100000"/>
              </a:srgbClr>
            </a:gs>
            <a:gs pos="100000">
              <a:srgbClr val="10061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39082" y="-28122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0" y="0"/>
                </a:moveTo>
                <a:lnTo>
                  <a:pt x="4665492" y="0"/>
                </a:lnTo>
                <a:lnTo>
                  <a:pt x="46654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-1034003" y="6324081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46654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65493" y="0"/>
                </a:lnTo>
                <a:lnTo>
                  <a:pt x="46654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32773" y="6319131"/>
            <a:ext cx="5367903" cy="2947467"/>
          </a:xfrm>
          <a:custGeom>
            <a:avLst/>
            <a:gdLst/>
            <a:ahLst/>
            <a:cxnLst/>
            <a:rect r="r" b="b" t="t" l="l"/>
            <a:pathLst>
              <a:path h="2947467" w="5367903">
                <a:moveTo>
                  <a:pt x="0" y="0"/>
                </a:moveTo>
                <a:lnTo>
                  <a:pt x="5367903" y="0"/>
                </a:lnTo>
                <a:lnTo>
                  <a:pt x="5367903" y="2947466"/>
                </a:lnTo>
                <a:lnTo>
                  <a:pt x="0" y="29474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0175">
            <a:off x="-1229735" y="7570593"/>
            <a:ext cx="3942161" cy="2766680"/>
          </a:xfrm>
          <a:custGeom>
            <a:avLst/>
            <a:gdLst/>
            <a:ahLst/>
            <a:cxnLst/>
            <a:rect r="r" b="b" t="t" l="l"/>
            <a:pathLst>
              <a:path h="2766680" w="3942161">
                <a:moveTo>
                  <a:pt x="0" y="0"/>
                </a:moveTo>
                <a:lnTo>
                  <a:pt x="3942160" y="0"/>
                </a:lnTo>
                <a:lnTo>
                  <a:pt x="3942160" y="2766680"/>
                </a:lnTo>
                <a:lnTo>
                  <a:pt x="0" y="27666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9648" y="-1799907"/>
            <a:ext cx="3599814" cy="3599814"/>
          </a:xfrm>
          <a:custGeom>
            <a:avLst/>
            <a:gdLst/>
            <a:ahLst/>
            <a:cxnLst/>
            <a:rect r="r" b="b" t="t" l="l"/>
            <a:pathLst>
              <a:path h="3599814" w="3599814">
                <a:moveTo>
                  <a:pt x="0" y="0"/>
                </a:moveTo>
                <a:lnTo>
                  <a:pt x="3599814" y="0"/>
                </a:lnTo>
                <a:lnTo>
                  <a:pt x="3599814" y="3599814"/>
                </a:lnTo>
                <a:lnTo>
                  <a:pt x="0" y="3599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62321" y="3487161"/>
            <a:ext cx="13439978" cy="5274712"/>
          </a:xfrm>
          <a:custGeom>
            <a:avLst/>
            <a:gdLst/>
            <a:ahLst/>
            <a:cxnLst/>
            <a:rect r="r" b="b" t="t" l="l"/>
            <a:pathLst>
              <a:path h="5274712" w="13439978">
                <a:moveTo>
                  <a:pt x="0" y="0"/>
                </a:moveTo>
                <a:lnTo>
                  <a:pt x="13439977" y="0"/>
                </a:lnTo>
                <a:lnTo>
                  <a:pt x="13439977" y="5274712"/>
                </a:lnTo>
                <a:lnTo>
                  <a:pt x="0" y="5274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94" t="0" r="0" b="-2614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6143" y="1423554"/>
            <a:ext cx="11301259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THIS IS WHERE DEEP LEARNING IS USEFUL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93371" y="9077758"/>
            <a:ext cx="11301259" cy="94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SUPER-RESOLUTION!!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84308" y="231740"/>
            <a:ext cx="2075497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PAGE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02298" y="76200"/>
            <a:ext cx="2181225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36221" y="2896650"/>
            <a:ext cx="12313954" cy="2154942"/>
          </a:xfrm>
          <a:custGeom>
            <a:avLst/>
            <a:gdLst/>
            <a:ahLst/>
            <a:cxnLst/>
            <a:rect r="r" b="b" t="t" l="l"/>
            <a:pathLst>
              <a:path h="2154942" w="12313954">
                <a:moveTo>
                  <a:pt x="0" y="0"/>
                </a:moveTo>
                <a:lnTo>
                  <a:pt x="12313953" y="0"/>
                </a:lnTo>
                <a:lnTo>
                  <a:pt x="12313953" y="2154942"/>
                </a:lnTo>
                <a:lnTo>
                  <a:pt x="0" y="2154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59384" y="5390124"/>
            <a:ext cx="4433075" cy="4569267"/>
          </a:xfrm>
          <a:custGeom>
            <a:avLst/>
            <a:gdLst/>
            <a:ahLst/>
            <a:cxnLst/>
            <a:rect r="r" b="b" t="t" l="l"/>
            <a:pathLst>
              <a:path h="4569267" w="4433075">
                <a:moveTo>
                  <a:pt x="0" y="0"/>
                </a:moveTo>
                <a:lnTo>
                  <a:pt x="4433074" y="0"/>
                </a:lnTo>
                <a:lnTo>
                  <a:pt x="4433074" y="4569267"/>
                </a:lnTo>
                <a:lnTo>
                  <a:pt x="0" y="4569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50978" y="5390124"/>
            <a:ext cx="4942363" cy="4641099"/>
          </a:xfrm>
          <a:custGeom>
            <a:avLst/>
            <a:gdLst/>
            <a:ahLst/>
            <a:cxnLst/>
            <a:rect r="r" b="b" t="t" l="l"/>
            <a:pathLst>
              <a:path h="4641099" w="4942363">
                <a:moveTo>
                  <a:pt x="0" y="0"/>
                </a:moveTo>
                <a:lnTo>
                  <a:pt x="4942363" y="0"/>
                </a:lnTo>
                <a:lnTo>
                  <a:pt x="4942363" y="4641099"/>
                </a:lnTo>
                <a:lnTo>
                  <a:pt x="0" y="4641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36221" y="1866681"/>
            <a:ext cx="11757121" cy="102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403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CLASSIFICATION OF SIMULATED GLS WITH DIFFERENT TYPE OF DARK MATTER: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4422" y="650348"/>
            <a:ext cx="6978950" cy="8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1"/>
              </a:lnSpc>
            </a:pPr>
            <a:r>
              <a:rPr lang="en-US" sz="64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RELATED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4551" y="76200"/>
            <a:ext cx="219344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4928" y="3567999"/>
            <a:ext cx="7984860" cy="3503357"/>
          </a:xfrm>
          <a:custGeom>
            <a:avLst/>
            <a:gdLst/>
            <a:ahLst/>
            <a:cxnLst/>
            <a:rect r="r" b="b" t="t" l="l"/>
            <a:pathLst>
              <a:path h="3503357" w="7984860">
                <a:moveTo>
                  <a:pt x="0" y="0"/>
                </a:moveTo>
                <a:lnTo>
                  <a:pt x="7984859" y="0"/>
                </a:lnTo>
                <a:lnTo>
                  <a:pt x="7984859" y="3503357"/>
                </a:lnTo>
                <a:lnTo>
                  <a:pt x="0" y="3503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6824" y="2953536"/>
            <a:ext cx="9117360" cy="5128515"/>
          </a:xfrm>
          <a:custGeom>
            <a:avLst/>
            <a:gdLst/>
            <a:ahLst/>
            <a:cxnLst/>
            <a:rect r="r" b="b" t="t" l="l"/>
            <a:pathLst>
              <a:path h="5128515" w="9117360">
                <a:moveTo>
                  <a:pt x="0" y="0"/>
                </a:moveTo>
                <a:lnTo>
                  <a:pt x="9117360" y="0"/>
                </a:lnTo>
                <a:lnTo>
                  <a:pt x="9117360" y="5128515"/>
                </a:lnTo>
                <a:lnTo>
                  <a:pt x="0" y="5128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6221" y="1866681"/>
            <a:ext cx="13331210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NEURAL NETWORK BASED SUPER-RESOLUTION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94422" y="650348"/>
            <a:ext cx="6978950" cy="8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1"/>
              </a:lnSpc>
            </a:pPr>
            <a:r>
              <a:rPr lang="en-US" sz="64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RELATED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44399" y="76200"/>
            <a:ext cx="2143601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8806" y="3614237"/>
            <a:ext cx="7055975" cy="2522091"/>
          </a:xfrm>
          <a:custGeom>
            <a:avLst/>
            <a:gdLst/>
            <a:ahLst/>
            <a:cxnLst/>
            <a:rect r="r" b="b" t="t" l="l"/>
            <a:pathLst>
              <a:path h="2522091" w="7055975">
                <a:moveTo>
                  <a:pt x="0" y="0"/>
                </a:moveTo>
                <a:lnTo>
                  <a:pt x="7055975" y="0"/>
                </a:lnTo>
                <a:lnTo>
                  <a:pt x="7055975" y="2522090"/>
                </a:lnTo>
                <a:lnTo>
                  <a:pt x="0" y="2522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1" t="0" r="-88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492" y="6136327"/>
            <a:ext cx="11301259" cy="3121973"/>
          </a:xfrm>
          <a:custGeom>
            <a:avLst/>
            <a:gdLst/>
            <a:ahLst/>
            <a:cxnLst/>
            <a:rect r="r" b="b" t="t" l="l"/>
            <a:pathLst>
              <a:path h="3121973" w="11301259">
                <a:moveTo>
                  <a:pt x="0" y="0"/>
                </a:moveTo>
                <a:lnTo>
                  <a:pt x="11301259" y="0"/>
                </a:lnTo>
                <a:lnTo>
                  <a:pt x="11301259" y="3121973"/>
                </a:lnTo>
                <a:lnTo>
                  <a:pt x="0" y="312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14781" y="4377582"/>
            <a:ext cx="8010964" cy="1755883"/>
          </a:xfrm>
          <a:custGeom>
            <a:avLst/>
            <a:gdLst/>
            <a:ahLst/>
            <a:cxnLst/>
            <a:rect r="r" b="b" t="t" l="l"/>
            <a:pathLst>
              <a:path h="1755883" w="8010964">
                <a:moveTo>
                  <a:pt x="0" y="0"/>
                </a:moveTo>
                <a:lnTo>
                  <a:pt x="8010964" y="0"/>
                </a:lnTo>
                <a:lnTo>
                  <a:pt x="8010964" y="1755883"/>
                </a:lnTo>
                <a:lnTo>
                  <a:pt x="0" y="1755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5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36221" y="1866681"/>
            <a:ext cx="11757121" cy="102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3. PHYSICS-INFORMED NEURAL NETWORK BASED SUPER-RESOLUTION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4422" y="650348"/>
            <a:ext cx="6978950" cy="8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1"/>
              </a:lnSpc>
            </a:pPr>
            <a:r>
              <a:rPr lang="en-US" sz="64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RELATED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18183" y="3634442"/>
            <a:ext cx="3624104" cy="45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348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SERSIC PROFILE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7251" y="76200"/>
            <a:ext cx="218074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93213" y="2183059"/>
            <a:ext cx="12701574" cy="14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4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LIMITATION OF EXISTING METHOD:</a:t>
            </a:r>
          </a:p>
          <a:p>
            <a:pPr algn="l">
              <a:lnSpc>
                <a:spcPts val="5554"/>
              </a:lnSpc>
            </a:pPr>
            <a:r>
              <a:rPr lang="en-US" sz="54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THEY ONLY USE SIMULATION DATA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72824" y="4494414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19016" y="4494414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43248" y="5413214"/>
            <a:ext cx="2667097" cy="98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v.s.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3213" y="7781457"/>
            <a:ext cx="14137956" cy="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4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REALITY IS ALWAYS MORE DIFFICULT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7091" y="76200"/>
            <a:ext cx="219090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48771" y="4353364"/>
            <a:ext cx="12701574" cy="2254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b="true" sz="57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QUESTION:</a:t>
            </a:r>
          </a:p>
          <a:p>
            <a:pPr algn="ctr">
              <a:lnSpc>
                <a:spcPts val="5857"/>
              </a:lnSpc>
            </a:pPr>
            <a:r>
              <a:rPr lang="en-US" b="true" sz="57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CAN WE USE OBSERVED DATA FOR TRAINING?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7091" y="76200"/>
            <a:ext cx="219090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0A26">
                <a:alpha val="100000"/>
              </a:srgbClr>
            </a:gs>
            <a:gs pos="100000">
              <a:srgbClr val="10061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39082" y="-28122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0" y="0"/>
                </a:moveTo>
                <a:lnTo>
                  <a:pt x="4665492" y="0"/>
                </a:lnTo>
                <a:lnTo>
                  <a:pt x="46654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-1034003" y="6324081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46654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65493" y="0"/>
                </a:lnTo>
                <a:lnTo>
                  <a:pt x="46654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827390">
            <a:off x="4328644" y="-868197"/>
            <a:ext cx="2907157" cy="3032236"/>
          </a:xfrm>
          <a:custGeom>
            <a:avLst/>
            <a:gdLst/>
            <a:ahLst/>
            <a:cxnLst/>
            <a:rect r="r" b="b" t="t" l="l"/>
            <a:pathLst>
              <a:path h="3032236" w="2907157">
                <a:moveTo>
                  <a:pt x="0" y="0"/>
                </a:moveTo>
                <a:lnTo>
                  <a:pt x="2907156" y="0"/>
                </a:lnTo>
                <a:lnTo>
                  <a:pt x="2907156" y="3032236"/>
                </a:lnTo>
                <a:lnTo>
                  <a:pt x="0" y="303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735617"/>
            <a:ext cx="18288000" cy="5551383"/>
          </a:xfrm>
          <a:custGeom>
            <a:avLst/>
            <a:gdLst/>
            <a:ahLst/>
            <a:cxnLst/>
            <a:rect r="r" b="b" t="t" l="l"/>
            <a:pathLst>
              <a:path h="5551383" w="18288000">
                <a:moveTo>
                  <a:pt x="0" y="0"/>
                </a:moveTo>
                <a:lnTo>
                  <a:pt x="18288000" y="0"/>
                </a:lnTo>
                <a:lnTo>
                  <a:pt x="18288000" y="5551383"/>
                </a:lnTo>
                <a:lnTo>
                  <a:pt x="0" y="5551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206" r="0" b="-312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84784" y="5873836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6" y="0"/>
                </a:lnTo>
                <a:lnTo>
                  <a:pt x="2667096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1530" y="5714384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62321" y="5563257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39964" y="5370868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15125" y="5143500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56143" y="4844211"/>
            <a:ext cx="2667097" cy="2667097"/>
          </a:xfrm>
          <a:custGeom>
            <a:avLst/>
            <a:gdLst/>
            <a:ahLst/>
            <a:cxnLst/>
            <a:rect r="r" b="b" t="t" l="l"/>
            <a:pathLst>
              <a:path h="2667097" w="2667097">
                <a:moveTo>
                  <a:pt x="0" y="0"/>
                </a:moveTo>
                <a:lnTo>
                  <a:pt x="2667097" y="0"/>
                </a:lnTo>
                <a:lnTo>
                  <a:pt x="2667097" y="2667097"/>
                </a:lnTo>
                <a:lnTo>
                  <a:pt x="0" y="26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58630" y="6142278"/>
            <a:ext cx="2088076" cy="2088076"/>
          </a:xfrm>
          <a:custGeom>
            <a:avLst/>
            <a:gdLst/>
            <a:ahLst/>
            <a:cxnLst/>
            <a:rect r="r" b="b" t="t" l="l"/>
            <a:pathLst>
              <a:path h="2088076" w="2088076">
                <a:moveTo>
                  <a:pt x="0" y="0"/>
                </a:moveTo>
                <a:lnTo>
                  <a:pt x="2088076" y="0"/>
                </a:lnTo>
                <a:lnTo>
                  <a:pt x="2088076" y="2088076"/>
                </a:lnTo>
                <a:lnTo>
                  <a:pt x="0" y="208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31820" y="5442406"/>
            <a:ext cx="2229772" cy="2229772"/>
          </a:xfrm>
          <a:custGeom>
            <a:avLst/>
            <a:gdLst/>
            <a:ahLst/>
            <a:cxnLst/>
            <a:rect r="r" b="b" t="t" l="l"/>
            <a:pathLst>
              <a:path h="2229772" w="2229772">
                <a:moveTo>
                  <a:pt x="0" y="0"/>
                </a:moveTo>
                <a:lnTo>
                  <a:pt x="2229771" y="0"/>
                </a:lnTo>
                <a:lnTo>
                  <a:pt x="2229771" y="2229771"/>
                </a:lnTo>
                <a:lnTo>
                  <a:pt x="0" y="2229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74917" y="4853605"/>
            <a:ext cx="2390258" cy="2390258"/>
          </a:xfrm>
          <a:custGeom>
            <a:avLst/>
            <a:gdLst/>
            <a:ahLst/>
            <a:cxnLst/>
            <a:rect r="r" b="b" t="t" l="l"/>
            <a:pathLst>
              <a:path h="2390258" w="2390258">
                <a:moveTo>
                  <a:pt x="0" y="0"/>
                </a:moveTo>
                <a:lnTo>
                  <a:pt x="2390258" y="0"/>
                </a:lnTo>
                <a:lnTo>
                  <a:pt x="2390258" y="2390258"/>
                </a:lnTo>
                <a:lnTo>
                  <a:pt x="0" y="23902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8179" y="2219646"/>
            <a:ext cx="16726814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HERE COMES ANOTHER PROBLEM,</a:t>
            </a:r>
          </a:p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OBSERVED DATA ARE TOO SMALL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25541" y="8933981"/>
            <a:ext cx="4295941" cy="1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34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10000 </a:t>
            </a:r>
          </a:p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34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SIMULATED </a:t>
            </a:r>
          </a:p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34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HR-LR PAIR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94303" y="8607608"/>
            <a:ext cx="2947531" cy="15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b="true" sz="40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  <a:r>
              <a:rPr lang="en-US" b="true" sz="40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00 </a:t>
            </a:r>
          </a:p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b="true" sz="40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OBSERVED </a:t>
            </a:r>
          </a:p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b="true" sz="40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HR-LR PAIR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98069" y="76200"/>
            <a:ext cx="1922462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0A26">
                <a:alpha val="100000"/>
              </a:srgbClr>
            </a:gs>
            <a:gs pos="100000">
              <a:srgbClr val="10061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39082" y="-28122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0" y="0"/>
                </a:moveTo>
                <a:lnTo>
                  <a:pt x="4665492" y="0"/>
                </a:lnTo>
                <a:lnTo>
                  <a:pt x="46654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-1034003" y="6324081"/>
            <a:ext cx="4665492" cy="4114800"/>
          </a:xfrm>
          <a:custGeom>
            <a:avLst/>
            <a:gdLst/>
            <a:ahLst/>
            <a:cxnLst/>
            <a:rect r="r" b="b" t="t" l="l"/>
            <a:pathLst>
              <a:path h="4114800" w="4665492">
                <a:moveTo>
                  <a:pt x="46654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65493" y="0"/>
                </a:lnTo>
                <a:lnTo>
                  <a:pt x="46654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23272">
            <a:off x="-119252" y="7029795"/>
            <a:ext cx="2820390" cy="4114800"/>
          </a:xfrm>
          <a:custGeom>
            <a:avLst/>
            <a:gdLst/>
            <a:ahLst/>
            <a:cxnLst/>
            <a:rect r="r" b="b" t="t" l="l"/>
            <a:pathLst>
              <a:path h="4114800" w="2820390">
                <a:moveTo>
                  <a:pt x="0" y="0"/>
                </a:moveTo>
                <a:lnTo>
                  <a:pt x="2820389" y="0"/>
                </a:lnTo>
                <a:lnTo>
                  <a:pt x="28203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08741" y="-404642"/>
            <a:ext cx="3701118" cy="2866684"/>
          </a:xfrm>
          <a:custGeom>
            <a:avLst/>
            <a:gdLst/>
            <a:ahLst/>
            <a:cxnLst/>
            <a:rect r="r" b="b" t="t" l="l"/>
            <a:pathLst>
              <a:path h="2866684" w="3701118">
                <a:moveTo>
                  <a:pt x="0" y="0"/>
                </a:moveTo>
                <a:lnTo>
                  <a:pt x="3701118" y="0"/>
                </a:lnTo>
                <a:lnTo>
                  <a:pt x="3701118" y="2866684"/>
                </a:lnTo>
                <a:lnTo>
                  <a:pt x="0" y="286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08830" y="4923603"/>
            <a:ext cx="3773758" cy="3938457"/>
          </a:xfrm>
          <a:custGeom>
            <a:avLst/>
            <a:gdLst/>
            <a:ahLst/>
            <a:cxnLst/>
            <a:rect r="r" b="b" t="t" l="l"/>
            <a:pathLst>
              <a:path h="3938457" w="3773758">
                <a:moveTo>
                  <a:pt x="0" y="0"/>
                </a:moveTo>
                <a:lnTo>
                  <a:pt x="3773758" y="0"/>
                </a:lnTo>
                <a:lnTo>
                  <a:pt x="3773758" y="3938457"/>
                </a:lnTo>
                <a:lnTo>
                  <a:pt x="0" y="3938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432941" y="-695184"/>
            <a:ext cx="3447768" cy="3447768"/>
          </a:xfrm>
          <a:custGeom>
            <a:avLst/>
            <a:gdLst/>
            <a:ahLst/>
            <a:cxnLst/>
            <a:rect r="r" b="b" t="t" l="l"/>
            <a:pathLst>
              <a:path h="3447768" w="3447768">
                <a:moveTo>
                  <a:pt x="0" y="3447768"/>
                </a:moveTo>
                <a:lnTo>
                  <a:pt x="3447768" y="3447768"/>
                </a:lnTo>
                <a:lnTo>
                  <a:pt x="3447768" y="0"/>
                </a:lnTo>
                <a:lnTo>
                  <a:pt x="0" y="0"/>
                </a:lnTo>
                <a:lnTo>
                  <a:pt x="0" y="344776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16850" y="3351611"/>
            <a:ext cx="9494678" cy="6764958"/>
          </a:xfrm>
          <a:custGeom>
            <a:avLst/>
            <a:gdLst/>
            <a:ahLst/>
            <a:cxnLst/>
            <a:rect r="r" b="b" t="t" l="l"/>
            <a:pathLst>
              <a:path h="6764958" w="9494678">
                <a:moveTo>
                  <a:pt x="0" y="0"/>
                </a:moveTo>
                <a:lnTo>
                  <a:pt x="9494678" y="0"/>
                </a:lnTo>
                <a:lnTo>
                  <a:pt x="9494678" y="6764958"/>
                </a:lnTo>
                <a:lnTo>
                  <a:pt x="0" y="6764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392001"/>
            <a:ext cx="16684620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OUR SOLUTION:</a:t>
            </a:r>
          </a:p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TRANSFER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43141" y="76200"/>
            <a:ext cx="2032318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" y="1991166"/>
            <a:ext cx="18273694" cy="8295834"/>
          </a:xfrm>
          <a:custGeom>
            <a:avLst/>
            <a:gdLst/>
            <a:ahLst/>
            <a:cxnLst/>
            <a:rect r="r" b="b" t="t" l="l"/>
            <a:pathLst>
              <a:path h="8295834" w="18273694">
                <a:moveTo>
                  <a:pt x="0" y="0"/>
                </a:moveTo>
                <a:lnTo>
                  <a:pt x="18273694" y="0"/>
                </a:lnTo>
                <a:lnTo>
                  <a:pt x="18273694" y="8295834"/>
                </a:lnTo>
                <a:lnTo>
                  <a:pt x="0" y="8295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68" r="0" b="-50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70294" y="796249"/>
            <a:ext cx="6747412" cy="94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b="true" sz="6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48539" y="76200"/>
            <a:ext cx="2021523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0294" y="796249"/>
            <a:ext cx="6747412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sz="6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EVALUATION METRIC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42427" y="76200"/>
            <a:ext cx="2033746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67550"/>
            <a:ext cx="1623060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MSE: measure average pixel-wise difference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SSIM: measure local variations and textures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PSNR: Peak Signal-to-Noise Ratio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19281" y="3504129"/>
            <a:ext cx="13617377" cy="4732039"/>
          </a:xfrm>
          <a:custGeom>
            <a:avLst/>
            <a:gdLst/>
            <a:ahLst/>
            <a:cxnLst/>
            <a:rect r="r" b="b" t="t" l="l"/>
            <a:pathLst>
              <a:path h="4732039" w="13617377">
                <a:moveTo>
                  <a:pt x="0" y="0"/>
                </a:moveTo>
                <a:lnTo>
                  <a:pt x="13617378" y="0"/>
                </a:lnTo>
                <a:lnTo>
                  <a:pt x="13617378" y="4732039"/>
                </a:lnTo>
                <a:lnTo>
                  <a:pt x="0" y="4732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19281" y="6436878"/>
            <a:ext cx="1084357" cy="1084357"/>
          </a:xfrm>
          <a:custGeom>
            <a:avLst/>
            <a:gdLst/>
            <a:ahLst/>
            <a:cxnLst/>
            <a:rect r="r" b="b" t="t" l="l"/>
            <a:pathLst>
              <a:path h="1084357" w="1084357">
                <a:moveTo>
                  <a:pt x="0" y="0"/>
                </a:moveTo>
                <a:lnTo>
                  <a:pt x="1084358" y="0"/>
                </a:lnTo>
                <a:lnTo>
                  <a:pt x="1084358" y="1084357"/>
                </a:lnTo>
                <a:lnTo>
                  <a:pt x="0" y="1084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92395" y="5791904"/>
            <a:ext cx="2444264" cy="2444264"/>
          </a:xfrm>
          <a:custGeom>
            <a:avLst/>
            <a:gdLst/>
            <a:ahLst/>
            <a:cxnLst/>
            <a:rect r="r" b="b" t="t" l="l"/>
            <a:pathLst>
              <a:path h="2444264" w="2444264">
                <a:moveTo>
                  <a:pt x="0" y="0"/>
                </a:moveTo>
                <a:lnTo>
                  <a:pt x="2444264" y="0"/>
                </a:lnTo>
                <a:lnTo>
                  <a:pt x="2444264" y="2444264"/>
                </a:lnTo>
                <a:lnTo>
                  <a:pt x="0" y="2444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83067" y="813753"/>
            <a:ext cx="5567948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MODEL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4165" y="2855472"/>
            <a:ext cx="15435755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403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RESIDUAL CHANNEL ATTENTION NETWORK(RCAN):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49253" y="76200"/>
            <a:ext cx="2020094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28755" y="3786451"/>
            <a:ext cx="12707904" cy="3589983"/>
          </a:xfrm>
          <a:custGeom>
            <a:avLst/>
            <a:gdLst/>
            <a:ahLst/>
            <a:cxnLst/>
            <a:rect r="r" b="b" t="t" l="l"/>
            <a:pathLst>
              <a:path h="3589983" w="12707904">
                <a:moveTo>
                  <a:pt x="0" y="0"/>
                </a:moveTo>
                <a:lnTo>
                  <a:pt x="12707904" y="0"/>
                </a:lnTo>
                <a:lnTo>
                  <a:pt x="12707904" y="3589983"/>
                </a:lnTo>
                <a:lnTo>
                  <a:pt x="0" y="3589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546" y="4846180"/>
            <a:ext cx="498446" cy="498446"/>
          </a:xfrm>
          <a:custGeom>
            <a:avLst/>
            <a:gdLst/>
            <a:ahLst/>
            <a:cxnLst/>
            <a:rect r="r" b="b" t="t" l="l"/>
            <a:pathLst>
              <a:path h="498446" w="498446">
                <a:moveTo>
                  <a:pt x="0" y="0"/>
                </a:moveTo>
                <a:lnTo>
                  <a:pt x="498447" y="0"/>
                </a:lnTo>
                <a:lnTo>
                  <a:pt x="498447" y="498446"/>
                </a:lnTo>
                <a:lnTo>
                  <a:pt x="0" y="498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83067" y="813753"/>
            <a:ext cx="5567948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MODEL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4165" y="2855472"/>
            <a:ext cx="15435755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SUPER-RESOLUTION RESIDUAL NETWORK(SRRESNET):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47789" y="5581442"/>
            <a:ext cx="1088869" cy="1060464"/>
          </a:xfrm>
          <a:custGeom>
            <a:avLst/>
            <a:gdLst/>
            <a:ahLst/>
            <a:cxnLst/>
            <a:rect r="r" b="b" t="t" l="l"/>
            <a:pathLst>
              <a:path h="1060464" w="1088869">
                <a:moveTo>
                  <a:pt x="0" y="0"/>
                </a:moveTo>
                <a:lnTo>
                  <a:pt x="1088870" y="0"/>
                </a:lnTo>
                <a:lnTo>
                  <a:pt x="1088870" y="1060464"/>
                </a:lnTo>
                <a:lnTo>
                  <a:pt x="0" y="1060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43141" y="76200"/>
            <a:ext cx="2032318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0774" y="3606160"/>
            <a:ext cx="9872734" cy="5652140"/>
          </a:xfrm>
          <a:custGeom>
            <a:avLst/>
            <a:gdLst/>
            <a:ahLst/>
            <a:cxnLst/>
            <a:rect r="r" b="b" t="t" l="l"/>
            <a:pathLst>
              <a:path h="5652140" w="9872734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57187" y="4480560"/>
            <a:ext cx="1413329" cy="1413329"/>
          </a:xfrm>
          <a:custGeom>
            <a:avLst/>
            <a:gdLst/>
            <a:ahLst/>
            <a:cxnLst/>
            <a:rect r="r" b="b" t="t" l="l"/>
            <a:pathLst>
              <a:path h="1413329" w="1413329">
                <a:moveTo>
                  <a:pt x="0" y="0"/>
                </a:moveTo>
                <a:lnTo>
                  <a:pt x="1413329" y="0"/>
                </a:lnTo>
                <a:lnTo>
                  <a:pt x="1413329" y="1413329"/>
                </a:lnTo>
                <a:lnTo>
                  <a:pt x="0" y="14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40583" y="7627758"/>
            <a:ext cx="705778" cy="705778"/>
          </a:xfrm>
          <a:custGeom>
            <a:avLst/>
            <a:gdLst/>
            <a:ahLst/>
            <a:cxnLst/>
            <a:rect r="r" b="b" t="t" l="l"/>
            <a:pathLst>
              <a:path h="705778" w="705778">
                <a:moveTo>
                  <a:pt x="0" y="0"/>
                </a:moveTo>
                <a:lnTo>
                  <a:pt x="705778" y="0"/>
                </a:lnTo>
                <a:lnTo>
                  <a:pt x="705778" y="705779"/>
                </a:lnTo>
                <a:lnTo>
                  <a:pt x="0" y="70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54437" y="4726099"/>
            <a:ext cx="1199071" cy="1167790"/>
          </a:xfrm>
          <a:custGeom>
            <a:avLst/>
            <a:gdLst/>
            <a:ahLst/>
            <a:cxnLst/>
            <a:rect r="r" b="b" t="t" l="l"/>
            <a:pathLst>
              <a:path h="1167790" w="1199071">
                <a:moveTo>
                  <a:pt x="0" y="0"/>
                </a:moveTo>
                <a:lnTo>
                  <a:pt x="1199071" y="0"/>
                </a:lnTo>
                <a:lnTo>
                  <a:pt x="1199071" y="1167790"/>
                </a:lnTo>
                <a:lnTo>
                  <a:pt x="0" y="1167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83067" y="813753"/>
            <a:ext cx="5567948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MODEL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4165" y="2855472"/>
            <a:ext cx="15435755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3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SUPER-RESOLUTION RESIDUAL NETWORK(SRRESNET):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40583" y="6762291"/>
            <a:ext cx="705778" cy="687367"/>
          </a:xfrm>
          <a:custGeom>
            <a:avLst/>
            <a:gdLst/>
            <a:ahLst/>
            <a:cxnLst/>
            <a:rect r="r" b="b" t="t" l="l"/>
            <a:pathLst>
              <a:path h="687367" w="705778">
                <a:moveTo>
                  <a:pt x="0" y="0"/>
                </a:moveTo>
                <a:lnTo>
                  <a:pt x="705778" y="0"/>
                </a:lnTo>
                <a:lnTo>
                  <a:pt x="705778" y="687367"/>
                </a:lnTo>
                <a:lnTo>
                  <a:pt x="0" y="687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80774" y="6762291"/>
            <a:ext cx="1611879" cy="1611879"/>
          </a:xfrm>
          <a:custGeom>
            <a:avLst/>
            <a:gdLst/>
            <a:ahLst/>
            <a:cxnLst/>
            <a:rect r="r" b="b" t="t" l="l"/>
            <a:pathLst>
              <a:path h="1611879" w="1611879">
                <a:moveTo>
                  <a:pt x="0" y="0"/>
                </a:moveTo>
                <a:lnTo>
                  <a:pt x="1611879" y="0"/>
                </a:lnTo>
                <a:lnTo>
                  <a:pt x="1611879" y="1611879"/>
                </a:lnTo>
                <a:lnTo>
                  <a:pt x="0" y="1611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262747" y="76200"/>
            <a:ext cx="1993106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3681400"/>
            <a:ext cx="11301259" cy="2924201"/>
          </a:xfrm>
          <a:custGeom>
            <a:avLst/>
            <a:gdLst/>
            <a:ahLst/>
            <a:cxnLst/>
            <a:rect r="r" b="b" t="t" l="l"/>
            <a:pathLst>
              <a:path h="2924201" w="11301259">
                <a:moveTo>
                  <a:pt x="0" y="0"/>
                </a:moveTo>
                <a:lnTo>
                  <a:pt x="11301258" y="0"/>
                </a:lnTo>
                <a:lnTo>
                  <a:pt x="11301258" y="2924200"/>
                </a:lnTo>
                <a:lnTo>
                  <a:pt x="0" y="292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0026" y="743793"/>
            <a:ext cx="556794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SIMULATED DATA RESULT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49491" y="76200"/>
            <a:ext cx="2019618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2970" y="2089625"/>
            <a:ext cx="5800088" cy="8041717"/>
          </a:xfrm>
          <a:custGeom>
            <a:avLst/>
            <a:gdLst/>
            <a:ahLst/>
            <a:cxnLst/>
            <a:rect r="r" b="b" t="t" l="l"/>
            <a:pathLst>
              <a:path h="8041717" w="5800088">
                <a:moveTo>
                  <a:pt x="0" y="0"/>
                </a:moveTo>
                <a:lnTo>
                  <a:pt x="5800088" y="0"/>
                </a:lnTo>
                <a:lnTo>
                  <a:pt x="5800088" y="8041717"/>
                </a:lnTo>
                <a:lnTo>
                  <a:pt x="0" y="804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3497" y="2124183"/>
            <a:ext cx="5705101" cy="8007159"/>
          </a:xfrm>
          <a:custGeom>
            <a:avLst/>
            <a:gdLst/>
            <a:ahLst/>
            <a:cxnLst/>
            <a:rect r="r" b="b" t="t" l="l"/>
            <a:pathLst>
              <a:path h="8007159" w="5705101">
                <a:moveTo>
                  <a:pt x="0" y="0"/>
                </a:moveTo>
                <a:lnTo>
                  <a:pt x="5705101" y="0"/>
                </a:lnTo>
                <a:lnTo>
                  <a:pt x="5705101" y="8007159"/>
                </a:lnTo>
                <a:lnTo>
                  <a:pt x="0" y="8007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60026" y="743793"/>
            <a:ext cx="556794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SIMULATED DATA RESULT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43141" y="76200"/>
            <a:ext cx="2032318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57" y="5400112"/>
            <a:ext cx="15329887" cy="1130579"/>
          </a:xfrm>
          <a:custGeom>
            <a:avLst/>
            <a:gdLst/>
            <a:ahLst/>
            <a:cxnLst/>
            <a:rect r="r" b="b" t="t" l="l"/>
            <a:pathLst>
              <a:path h="1130579" w="15329887">
                <a:moveTo>
                  <a:pt x="0" y="0"/>
                </a:moveTo>
                <a:lnTo>
                  <a:pt x="15329886" y="0"/>
                </a:lnTo>
                <a:lnTo>
                  <a:pt x="15329886" y="1130579"/>
                </a:lnTo>
                <a:lnTo>
                  <a:pt x="0" y="1130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3427" y="1224729"/>
            <a:ext cx="7806653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TRANSFER LEARNING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780" y="2773652"/>
            <a:ext cx="15910070" cy="63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1780" indent="-400890" lvl="1">
              <a:lnSpc>
                <a:spcPts val="5199"/>
              </a:lnSpc>
              <a:buFont typeface="Arial"/>
              <a:buChar char="•"/>
            </a:pPr>
            <a:r>
              <a:rPr lang="en-US" sz="37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obtaing our base model, we can apply our model on real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55701" y="76200"/>
            <a:ext cx="223229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34047" y="3374756"/>
            <a:ext cx="6808023" cy="4862874"/>
          </a:xfrm>
          <a:custGeom>
            <a:avLst/>
            <a:gdLst/>
            <a:ahLst/>
            <a:cxnLst/>
            <a:rect r="r" b="b" t="t" l="l"/>
            <a:pathLst>
              <a:path h="4862874" w="6808023">
                <a:moveTo>
                  <a:pt x="0" y="0"/>
                </a:moveTo>
                <a:lnTo>
                  <a:pt x="6808024" y="0"/>
                </a:lnTo>
                <a:lnTo>
                  <a:pt x="6808024" y="4862874"/>
                </a:lnTo>
                <a:lnTo>
                  <a:pt x="0" y="486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3427" y="1399628"/>
            <a:ext cx="7806653" cy="6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LAYER FREEZING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50258" y="2461308"/>
            <a:ext cx="3456940" cy="157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extraction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799448" y="2461308"/>
            <a:ext cx="2309654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Upsampling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layer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3051484" y="7337544"/>
            <a:ext cx="7806653" cy="1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4"/>
              </a:lnSpc>
            </a:pPr>
            <a:r>
              <a:rPr lang="en-US" b="true" sz="10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3267" y="8226962"/>
            <a:ext cx="2362110" cy="103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Freeze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6167664" y="7337544"/>
            <a:ext cx="7806653" cy="1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4"/>
              </a:lnSpc>
            </a:pPr>
            <a:r>
              <a:rPr lang="en-US" b="true" sz="10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64588" y="8226962"/>
            <a:ext cx="1831830" cy="103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55701" y="76200"/>
            <a:ext cx="223229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34047" y="3374756"/>
            <a:ext cx="6808023" cy="4862874"/>
          </a:xfrm>
          <a:custGeom>
            <a:avLst/>
            <a:gdLst/>
            <a:ahLst/>
            <a:cxnLst/>
            <a:rect r="r" b="b" t="t" l="l"/>
            <a:pathLst>
              <a:path h="4862874" w="6808023">
                <a:moveTo>
                  <a:pt x="0" y="0"/>
                </a:moveTo>
                <a:lnTo>
                  <a:pt x="6808024" y="0"/>
                </a:lnTo>
                <a:lnTo>
                  <a:pt x="6808024" y="4862874"/>
                </a:lnTo>
                <a:lnTo>
                  <a:pt x="0" y="486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3427" y="1428203"/>
            <a:ext cx="7806653" cy="7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b="true" sz="57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FINE-TUNING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547" y="2591165"/>
            <a:ext cx="13835484" cy="63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Unfreeze all layers and use a smaller learning rate to train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3051484" y="7337544"/>
            <a:ext cx="7806653" cy="1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4"/>
              </a:lnSpc>
            </a:pPr>
            <a:r>
              <a:rPr lang="en-US" b="true" sz="10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{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6167664" y="7337544"/>
            <a:ext cx="7806653" cy="1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4"/>
              </a:lnSpc>
            </a:pPr>
            <a:r>
              <a:rPr lang="en-US" b="true" sz="10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64588" y="8226962"/>
            <a:ext cx="1831830" cy="103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3749" y="8226962"/>
            <a:ext cx="1831830" cy="103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38341" y="76200"/>
            <a:ext cx="234965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1853" y="3866281"/>
            <a:ext cx="11104294" cy="2554438"/>
          </a:xfrm>
          <a:custGeom>
            <a:avLst/>
            <a:gdLst/>
            <a:ahLst/>
            <a:cxnLst/>
            <a:rect r="r" b="b" t="t" l="l"/>
            <a:pathLst>
              <a:path h="2554438" w="11104294">
                <a:moveTo>
                  <a:pt x="0" y="0"/>
                </a:moveTo>
                <a:lnTo>
                  <a:pt x="11104294" y="0"/>
                </a:lnTo>
                <a:lnTo>
                  <a:pt x="11104294" y="2554438"/>
                </a:lnTo>
                <a:lnTo>
                  <a:pt x="0" y="2554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0026" y="743793"/>
            <a:ext cx="556794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OBSERVED DATA RESULT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38341" y="76200"/>
            <a:ext cx="234965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5" r="0" b="-10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77742" y="2306296"/>
            <a:ext cx="5359979" cy="7444415"/>
          </a:xfrm>
          <a:custGeom>
            <a:avLst/>
            <a:gdLst/>
            <a:ahLst/>
            <a:cxnLst/>
            <a:rect r="r" b="b" t="t" l="l"/>
            <a:pathLst>
              <a:path h="7444415" w="5359979">
                <a:moveTo>
                  <a:pt x="0" y="0"/>
                </a:moveTo>
                <a:lnTo>
                  <a:pt x="5359978" y="0"/>
                </a:lnTo>
                <a:lnTo>
                  <a:pt x="5359978" y="7444415"/>
                </a:lnTo>
                <a:lnTo>
                  <a:pt x="0" y="7444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8895" y="2306296"/>
            <a:ext cx="5434423" cy="7444415"/>
          </a:xfrm>
          <a:custGeom>
            <a:avLst/>
            <a:gdLst/>
            <a:ahLst/>
            <a:cxnLst/>
            <a:rect r="r" b="b" t="t" l="l"/>
            <a:pathLst>
              <a:path h="7444415" w="5434423">
                <a:moveTo>
                  <a:pt x="0" y="0"/>
                </a:moveTo>
                <a:lnTo>
                  <a:pt x="5434423" y="0"/>
                </a:lnTo>
                <a:lnTo>
                  <a:pt x="5434423" y="7444415"/>
                </a:lnTo>
                <a:lnTo>
                  <a:pt x="0" y="7444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60026" y="743793"/>
            <a:ext cx="556794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9"/>
              </a:lnSpc>
            </a:pPr>
            <a:r>
              <a:rPr lang="en-US" b="true" sz="4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OBSERVED DATA RESULT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90681" y="76200"/>
            <a:ext cx="2197319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0" r="0" b="-25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5212" y="705566"/>
            <a:ext cx="6297575" cy="75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5"/>
              </a:lnSpc>
            </a:pPr>
            <a:r>
              <a:rPr lang="en-US" sz="562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0877" y="3665796"/>
            <a:ext cx="13346246" cy="448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165" indent="-476583" lvl="1">
              <a:lnSpc>
                <a:spcPts val="6180"/>
              </a:lnSpc>
              <a:buFont typeface="Arial"/>
              <a:buChar char="•"/>
            </a:pPr>
            <a:r>
              <a:rPr lang="en-US" sz="44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Simulate different types of gravitational lensing.</a:t>
            </a:r>
          </a:p>
          <a:p>
            <a:pPr algn="l" marL="953165" indent="-476583" lvl="1">
              <a:lnSpc>
                <a:spcPts val="6180"/>
              </a:lnSpc>
              <a:buFont typeface="Arial"/>
              <a:buChar char="•"/>
            </a:pPr>
            <a:r>
              <a:rPr lang="en-US" sz="44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 if super-resolution images increase accuracy</a:t>
            </a:r>
          </a:p>
          <a:p>
            <a:pPr algn="l">
              <a:lnSpc>
                <a:spcPts val="5243"/>
              </a:lnSpc>
            </a:pPr>
          </a:p>
          <a:p>
            <a:pPr algn="l">
              <a:lnSpc>
                <a:spcPts val="524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047073" y="76200"/>
            <a:ext cx="2240927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0" r="0" b="-25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5212" y="705566"/>
            <a:ext cx="6297575" cy="75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5"/>
              </a:lnSpc>
            </a:pPr>
            <a:r>
              <a:rPr lang="en-US" sz="562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REFERENCE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47073" y="76200"/>
            <a:ext cx="2240927" cy="52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074" y="1794510"/>
            <a:ext cx="17307996" cy="774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b="true" sz="2761" spc="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STEPHON ALEXANDER ET AL. DECODING DARK MATTER SUBSTRUCTURE </a:t>
            </a: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with</a:t>
            </a: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OUT SUPERVISION. ARXIV PREPRINT, ARXIV:2008.12731, 2020.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ATAL GUPTA. SINGLE IMAGE SUPER-RESOLUTION WITH DIFFUSION MODELS.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NASA. FOCUSING IN ON GRAVITATIONAL LENSES, 2023.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MICHELLE NTAMPAKA ET AL. DEEP LEARNING THE MORPHOLOGY OF DARK MATTER SUBSTRUCTURE. ARXIV PREPRINT, ARXIV:1909.07346, 2019.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J. PRESKILL, M. B. WISE, AND F. WILCZEK. COSMOLOGY OF THE INVISIBLE AXION. PHYSICS LETTERS B, 120(1-3):127–132, 1983.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PRANATH REDDY. SUPER-RESOLUTION FOR STRONG GRAVITATIONAL LENSNG. 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ANIRUDH SHANKAR. PHYSICS-INFORMED UNSUPERVISED SUPER-RESOLUTION OF LENSING IMAGES: GSOC 2024 X ML4SCI. MEDIUM,2024.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G. STEIGMAN AND M. S. TURNER. COSMOLOGICAL CONSTRAINTS ON THE PROPERTIES OF WEAKLY INTERACTING MASSIVE PARTICLES. NUCLEAR PHYSICS B, 253:375–386, 1985.</a:t>
            </a:r>
          </a:p>
          <a:p>
            <a:pPr algn="l" marL="596195" indent="-298097" lvl="1">
              <a:lnSpc>
                <a:spcPts val="3866"/>
              </a:lnSpc>
              <a:buAutoNum type="arabicPeriod" startAt="1"/>
            </a:pPr>
            <a:r>
              <a:rPr lang="en-US" sz="2761" spc="8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YULUN ZHANG, KUNPENG LI, KAI LI, LICHEN WANG, BINENG  ZHONG, AND YUN FU. IMAGE SUPER-RESOLUTION USING VERY DEEP RESIDUAL CHANNEL ATTENTION NETWORKS. ARXIV PREPRINT, ARXIV:1807.02758, 2018. PUBLISHED IN ECCV 2018.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255985" y="-2180105"/>
            <a:ext cx="9400859" cy="526448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144874" y="-2180105"/>
            <a:ext cx="9400859" cy="526448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466962" y="3747860"/>
            <a:ext cx="7354075" cy="300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0"/>
              </a:lnSpc>
            </a:pPr>
            <a:r>
              <a:rPr lang="en-US" b="true" sz="1146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</a:t>
            </a:r>
          </a:p>
          <a:p>
            <a:pPr algn="ctr">
              <a:lnSpc>
                <a:spcPts val="11580"/>
              </a:lnSpc>
            </a:pPr>
            <a:r>
              <a:rPr lang="en-US" b="true" sz="1146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YOU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10798857">
            <a:off x="9144000" y="7201062"/>
            <a:ext cx="9400859" cy="526448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10798857">
            <a:off x="-256859" y="7197939"/>
            <a:ext cx="9400859" cy="52644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DAGmRtdXeKE</dc:identifier>
  <dcterms:modified xsi:type="dcterms:W3CDTF">2011-08-01T06:04:30Z</dcterms:modified>
  <cp:revision>1</cp:revision>
  <dc:title>Blue and Black Neon Bold Gradient Modern Galaxy Playful Illustrative Universe Project Presentation</dc:title>
</cp:coreProperties>
</file>